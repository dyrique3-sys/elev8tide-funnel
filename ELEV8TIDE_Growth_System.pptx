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f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7801"/>
            <a:ext cx="12191695" cy="81336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332E">
                  <a:alpha val="82000"/>
                </a:srgbClr>
              </a:gs>
              <a:gs pos="100000">
                <a:srgbClr val="0A332E">
                  <a:alpha val="58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32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spc="300">
                <a:solidFill>
                  <a:srgbClr val="FFFFFF"/>
                </a:solidFill>
                <a:latin typeface="Didot"/>
              </a:rPr>
              <a:t>ELEV</a:t>
            </a:r>
            <a:r>
              <a:rPr sz="2200" b="1" spc="300">
                <a:solidFill>
                  <a:srgbClr val="C6A15B"/>
                </a:solidFill>
                <a:latin typeface="Didot"/>
              </a:rPr>
              <a:t>8</a:t>
            </a:r>
            <a:r>
              <a:rPr sz="2200" b="1" spc="300">
                <a:solidFill>
                  <a:srgbClr val="FFFFFF"/>
                </a:solidFill>
                <a:latin typeface="Didot"/>
              </a:rPr>
              <a:t>TIDE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ADVANCED WELLNESS &amp;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91440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7400" b="0" i="0">
                <a:solidFill>
                  <a:srgbClr val="FFFFFF"/>
                </a:solidFill>
                <a:latin typeface="Didot"/>
              </a:rPr>
              <a:t>The Growth</a:t>
            </a:r>
          </a:p>
          <a:p>
            <a:pPr algn="l">
              <a:lnSpc>
                <a:spcPct val="95000"/>
              </a:lnSpc>
            </a:pPr>
            <a:r>
              <a:rPr sz="7400" b="0" i="0">
                <a:solidFill>
                  <a:srgbClr val="FFFFFF"/>
                </a:solidFill>
                <a:latin typeface="Didot"/>
              </a:rPr>
              <a:t>System.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D9BC86"/>
                </a:solidFill>
                <a:latin typeface="Avenir Next"/>
              </a:rPr>
              <a:t>How a luxury wellness brand becomes an</a:t>
            </a:r>
          </a:p>
          <a:p>
            <a:pPr algn="l">
              <a:lnSpc>
                <a:spcPct val="120000"/>
              </a:lnSpc>
            </a:pPr>
            <a:r>
              <a:rPr sz="1900" b="0" i="0">
                <a:solidFill>
                  <a:srgbClr val="D9BC86"/>
                </a:solidFill>
                <a:latin typeface="Avenir Next"/>
              </a:rPr>
              <a:t>automated client-acquisition machine.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331720"/>
            <a:ext cx="822960" cy="304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f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25" y="0"/>
            <a:ext cx="1219974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332E">
                  <a:alpha val="30000"/>
                </a:srgbClr>
              </a:gs>
              <a:gs pos="100000">
                <a:srgbClr val="0A332E">
                  <a:alpha val="88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60720" y="21031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0" y="2423160"/>
            <a:ext cx="5943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200" b="0" i="0">
                <a:solidFill>
                  <a:srgbClr val="FFFFFF"/>
                </a:solidFill>
                <a:latin typeface="Didot"/>
              </a:rPr>
              <a:t>You built</a:t>
            </a:r>
          </a:p>
          <a:p>
            <a:pPr algn="l">
              <a:lnSpc>
                <a:spcPct val="98000"/>
              </a:lnSpc>
            </a:pPr>
            <a:r>
              <a:rPr sz="5200" b="0" i="0">
                <a:solidFill>
                  <a:srgbClr val="FFFFFF"/>
                </a:solidFill>
                <a:latin typeface="Didot"/>
              </a:rPr>
              <a:t>the brand.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4069080"/>
            <a:ext cx="5943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1">
                <a:solidFill>
                  <a:srgbClr val="D9BC86"/>
                </a:solidFill>
                <a:latin typeface="Didot"/>
              </a:rPr>
              <a:t>Now let's build</a:t>
            </a:r>
          </a:p>
          <a:p>
            <a:pPr algn="l">
              <a:lnSpc>
                <a:spcPct val="100000"/>
              </a:lnSpc>
            </a:pPr>
            <a:r>
              <a:rPr sz="4000" b="0" i="1">
                <a:solidFill>
                  <a:srgbClr val="D9BC86"/>
                </a:solidFill>
                <a:latin typeface="Didot"/>
              </a:rPr>
              <a:t>the machine.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THE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0E4A43"/>
                </a:solidFill>
                <a:latin typeface="Didot"/>
              </a:rPr>
              <a:t>Five phases. One engine.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640080" cy="304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2084831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0" i="0">
                <a:solidFill>
                  <a:srgbClr val="C6A15B"/>
                </a:solidFill>
                <a:latin typeface="Dido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794760"/>
            <a:ext cx="16276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E4A43"/>
                </a:solidFill>
                <a:latin typeface="Didot"/>
              </a:rPr>
              <a:t>The 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343400"/>
            <a:ext cx="162763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C6F6A"/>
                </a:solidFill>
                <a:latin typeface="Avenir Next"/>
              </a:rPr>
              <a:t>A luxury page that captures every lead.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72384" y="2377440"/>
            <a:ext cx="2084831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8103" y="26974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0" i="0">
                <a:solidFill>
                  <a:srgbClr val="C6A15B"/>
                </a:solidFill>
                <a:latin typeface="Dido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5" y="3794760"/>
            <a:ext cx="16276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E4A43"/>
                </a:solidFill>
                <a:latin typeface="Didot"/>
              </a:rPr>
              <a:t>Email + SMS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5" y="4343400"/>
            <a:ext cx="162763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C6F6A"/>
                </a:solidFill>
                <a:latin typeface="Avenir Next"/>
              </a:rPr>
              <a:t>Automated nurture that warms leads to buyers.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21808" y="2377440"/>
            <a:ext cx="2084831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6974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0" i="0">
                <a:solidFill>
                  <a:srgbClr val="C6A15B"/>
                </a:solidFill>
                <a:latin typeface="Dido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3794760"/>
            <a:ext cx="16276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E4A43"/>
                </a:solidFill>
                <a:latin typeface="Didot"/>
              </a:rPr>
              <a:t>Paid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343400"/>
            <a:ext cx="162763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C6F6A"/>
                </a:solidFill>
                <a:latin typeface="Avenir Next"/>
              </a:rPr>
              <a:t>Targeted traffic from affluent buyers.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71231" y="2377440"/>
            <a:ext cx="2084831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26974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0" i="0">
                <a:solidFill>
                  <a:srgbClr val="C6A15B"/>
                </a:solidFill>
                <a:latin typeface="Dido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3794760"/>
            <a:ext cx="16276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E4A43"/>
                </a:solidFill>
                <a:latin typeface="Didot"/>
              </a:rPr>
              <a:t>AI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4343400"/>
            <a:ext cx="162763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C6F6A"/>
                </a:solidFill>
                <a:latin typeface="Avenir Next"/>
              </a:rPr>
              <a:t>A 24/7 concierge that answers &amp; books.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0656" y="2377440"/>
            <a:ext cx="2084831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6376" y="2697480"/>
            <a:ext cx="1810511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0" i="0">
                <a:solidFill>
                  <a:srgbClr val="C6A15B"/>
                </a:solidFill>
                <a:latin typeface="Dido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3794760"/>
            <a:ext cx="1627631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0E4A43"/>
                </a:solidFill>
                <a:latin typeface="Didot"/>
              </a:rPr>
              <a:t>Automation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76688" y="4343400"/>
            <a:ext cx="1627631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C6F6A"/>
                </a:solidFill>
                <a:latin typeface="Avenir Next"/>
              </a:rPr>
              <a:t>The whole engine, running itself.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7801"/>
            <a:ext cx="12191695" cy="81336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332E">
                  <a:alpha val="25000"/>
                </a:srgbClr>
              </a:gs>
              <a:gs pos="100000">
                <a:srgbClr val="0A332E">
                  <a:alpha val="9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0" i="0">
                <a:solidFill>
                  <a:srgbClr val="C6A15B"/>
                </a:solidFill>
                <a:latin typeface="Dido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6752" y="33375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PHASE ONE · LIVE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657600"/>
            <a:ext cx="5852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The luxury</a:t>
            </a:r>
          </a:p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front door.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1032" y="525780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9BC86"/>
                </a:solidFill>
                <a:latin typeface="Avenir Next"/>
              </a:rPr>
              <a:t>A high-end landing page that captures every visitor's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9BC86"/>
                </a:solidFill>
                <a:latin typeface="Avenir Next"/>
              </a:rPr>
              <a:t>name, email &amp; phone. Already built — sample is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5989320"/>
            <a:ext cx="2377440" cy="3840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60533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 i="0" spc="200">
                <a:solidFill>
                  <a:srgbClr val="0A332E"/>
                </a:solidFill>
                <a:latin typeface="Avenir Next"/>
              </a:rPr>
              <a:t>VIEW THE LIVE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f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98467"/>
            <a:ext cx="12191695" cy="78549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332E">
                  <a:alpha val="90000"/>
                </a:srgbClr>
              </a:gs>
              <a:gs pos="100000">
                <a:srgbClr val="0A332E">
                  <a:alpha val="25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0" i="0">
                <a:solidFill>
                  <a:srgbClr val="C6A15B"/>
                </a:solidFill>
                <a:latin typeface="Dido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3375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PHASE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5852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Follow up,</a:t>
            </a:r>
          </a:p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525780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9BC86"/>
                </a:solidFill>
                <a:latin typeface="Avenir Next"/>
              </a:rPr>
              <a:t>Welcome series + SMS that nurture every lead the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9BC86"/>
                </a:solidFill>
                <a:latin typeface="Avenir Next"/>
              </a:rPr>
              <a:t>moment they join. 98% of texts get opened.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5989320"/>
            <a:ext cx="1513332" cy="3840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6053328"/>
            <a:ext cx="15133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 i="0" spc="200">
                <a:solidFill>
                  <a:srgbClr val="0A332E"/>
                </a:solidFill>
                <a:latin typeface="Avenir Next"/>
              </a:rPr>
              <a:t>EMAIL + SMS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f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25" y="0"/>
            <a:ext cx="1219974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332E">
                  <a:alpha val="90000"/>
                </a:srgbClr>
              </a:gs>
              <a:gs pos="100000">
                <a:srgbClr val="0A332E">
                  <a:alpha val="25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0" i="0">
                <a:solidFill>
                  <a:srgbClr val="C6A15B"/>
                </a:solidFill>
                <a:latin typeface="Dido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33375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PHASE THREE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5852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Fuel the</a:t>
            </a:r>
          </a:p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fire.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525780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9BC86"/>
                </a:solidFill>
                <a:latin typeface="Avenir Next"/>
              </a:rPr>
              <a:t>Targeted Meta &amp; Google ads that put ELEV8TIDE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9BC86"/>
                </a:solidFill>
                <a:latin typeface="Avenir Next"/>
              </a:rPr>
              <a:t>in front of the exact luxury buyer — at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5989320"/>
            <a:ext cx="1225295" cy="3840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6053328"/>
            <a:ext cx="12252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 i="0" spc="200">
                <a:solidFill>
                  <a:srgbClr val="0A332E"/>
                </a:solidFill>
                <a:latin typeface="Avenir Next"/>
              </a:rPr>
              <a:t>PAID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f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7801"/>
            <a:ext cx="12191695" cy="81336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332E">
                  <a:alpha val="25000"/>
                </a:srgbClr>
              </a:gs>
              <a:gs pos="100000">
                <a:srgbClr val="0A332E">
                  <a:alpha val="9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3657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12000" b="0" i="0">
                <a:solidFill>
                  <a:srgbClr val="C6A15B"/>
                </a:solidFill>
                <a:latin typeface="Didot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16752" y="333756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PHASE FOUR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657600"/>
            <a:ext cx="58521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A concierge</a:t>
            </a:r>
          </a:p>
          <a:p>
            <a:pPr algn="l">
              <a:lnSpc>
                <a:spcPct val="9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that never sleeps.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1032" y="525780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9BC86"/>
                </a:solidFill>
                <a:latin typeface="Avenir Next"/>
              </a:rPr>
              <a:t>An AI team in the ELEV8TIDE voice — answering DMs,</a:t>
            </a:r>
          </a:p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D9BC86"/>
                </a:solidFill>
                <a:latin typeface="Avenir Next"/>
              </a:rPr>
              <a:t>qualifying leads and booking calls 24/7.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71032" y="5989320"/>
            <a:ext cx="1321307" cy="3840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2" y="6053328"/>
            <a:ext cx="132130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 i="0" spc="200">
                <a:solidFill>
                  <a:srgbClr val="0A332E"/>
                </a:solidFill>
                <a:latin typeface="Avenir Next"/>
              </a:rPr>
              <a:t>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3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A43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PHASE FIVE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FFFFFF"/>
                </a:solidFill>
                <a:latin typeface="Didot"/>
              </a:rPr>
              <a:t>The complete engine.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1">
                <a:solidFill>
                  <a:srgbClr val="D9BC86"/>
                </a:solidFill>
                <a:latin typeface="Avenir Next"/>
              </a:rPr>
              <a:t>Every piece connected — running itself.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017520"/>
            <a:ext cx="1920240" cy="1371600"/>
          </a:xfrm>
          <a:prstGeom prst="roundRect">
            <a:avLst/>
          </a:prstGeom>
          <a:solidFill>
            <a:srgbClr val="0A332E"/>
          </a:solidFill>
          <a:ln w="1270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474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Didot"/>
              </a:rPr>
              <a:t>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0632" y="3401568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0" i="0">
                <a:solidFill>
                  <a:srgbClr val="C6A15B"/>
                </a:solidFill>
                <a:latin typeface="Avenir Nex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017520"/>
            <a:ext cx="1920240" cy="1371600"/>
          </a:xfrm>
          <a:prstGeom prst="roundRect">
            <a:avLst/>
          </a:prstGeom>
          <a:solidFill>
            <a:srgbClr val="0A332E"/>
          </a:solidFill>
          <a:ln w="1270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474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Didot"/>
              </a:rPr>
              <a:t>Funnel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3401568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0" i="0">
                <a:solidFill>
                  <a:srgbClr val="C6A15B"/>
                </a:solidFill>
                <a:latin typeface="Avenir Next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3017520"/>
            <a:ext cx="1920240" cy="1371600"/>
          </a:xfrm>
          <a:prstGeom prst="roundRect">
            <a:avLst/>
          </a:prstGeom>
          <a:solidFill>
            <a:srgbClr val="0A332E"/>
          </a:solidFill>
          <a:ln w="1270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3474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Didot"/>
              </a:rPr>
              <a:t>Nurture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3401568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0" i="0">
                <a:solidFill>
                  <a:srgbClr val="C6A15B"/>
                </a:solidFill>
                <a:latin typeface="Avenir Next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3017520"/>
            <a:ext cx="1920240" cy="1371600"/>
          </a:xfrm>
          <a:prstGeom prst="roundRect">
            <a:avLst/>
          </a:prstGeom>
          <a:solidFill>
            <a:srgbClr val="0A332E"/>
          </a:solidFill>
          <a:ln w="1270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3474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Didot"/>
              </a:rPr>
              <a:t>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3401568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0" i="0">
                <a:solidFill>
                  <a:srgbClr val="C6A15B"/>
                </a:solidFill>
                <a:latin typeface="Avenir Next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3017520"/>
            <a:ext cx="1920240" cy="1371600"/>
          </a:xfrm>
          <a:prstGeom prst="roundRect">
            <a:avLst/>
          </a:prstGeom>
          <a:solidFill>
            <a:srgbClr val="0A332E"/>
          </a:solidFill>
          <a:ln w="1270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34747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Didot"/>
              </a:rPr>
              <a:t>Follow-up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120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D9BC86"/>
                </a:solidFill>
                <a:latin typeface="Avenir Next"/>
              </a:rPr>
              <a:t>One dashboard. Full visibility. A business that grows without adding hours.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y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1644" y="0"/>
            <a:ext cx="5310051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FBF8F1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THE POSSIBILITY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5486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0E4A43"/>
                </a:solidFill>
                <a:latin typeface="Didot"/>
              </a:rPr>
              <a:t>Your product line,</a:t>
            </a:r>
          </a:p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0E4A43"/>
                </a:solidFill>
                <a:latin typeface="Didot"/>
              </a:rPr>
              <a:t>elevated.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50292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C6F6A"/>
                </a:solidFill>
                <a:latin typeface="Avenir Next"/>
              </a:rPr>
              <a:t>The same system can showcase the full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C6F6A"/>
                </a:solidFill>
                <a:latin typeface="Avenir Next"/>
              </a:rPr>
              <a:t>ELEV8TIDE catalog — premium, lab-tested,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C6F6A"/>
                </a:solidFill>
                <a:latin typeface="Avenir Next"/>
              </a:rPr>
              <a:t>clinically focused — and turn interest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C6F6A"/>
                </a:solidFill>
                <a:latin typeface="Avenir Next"/>
              </a:rPr>
              <a:t>into orders automatically.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429000"/>
            <a:ext cx="640080" cy="304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7801"/>
            <a:ext cx="12191695" cy="81336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332E">
                  <a:alpha val="88000"/>
                </a:srgbClr>
              </a:gs>
              <a:gs pos="100000">
                <a:srgbClr val="0A332E">
                  <a:alpha val="3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THE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51760"/>
            <a:ext cx="6858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FFFFFF"/>
                </a:solidFill>
                <a:latin typeface="Didot"/>
              </a:rPr>
              <a:t>A brand that feels</a:t>
            </a:r>
          </a:p>
          <a:p>
            <a:pPr algn="l">
              <a:lnSpc>
                <a:spcPct val="100000"/>
              </a:lnSpc>
            </a:pPr>
            <a:r>
              <a:rPr sz="4200" b="0" i="0">
                <a:solidFill>
                  <a:srgbClr val="FFFFFF"/>
                </a:solidFill>
                <a:latin typeface="Didot"/>
              </a:rPr>
              <a:t>like a private club.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D9BC86"/>
                </a:solidFill>
                <a:latin typeface="Avenir Next"/>
              </a:rPr>
              <a:t>Discretion, design and care in every touchpoint —</a:t>
            </a:r>
          </a:p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D9BC86"/>
                </a:solidFill>
                <a:latin typeface="Avenir Next"/>
              </a:rPr>
              <a:t>online exactly as it feels in person.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000" b="0" i="0" spc="200">
                <a:solidFill>
                  <a:srgbClr val="C6A15B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0" i="0">
                <a:solidFill>
                  <a:srgbClr val="0E4A43"/>
                </a:solidFill>
                <a:latin typeface="Didot"/>
              </a:rPr>
              <a:t>Choose your tide.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0" i="0">
                <a:solidFill>
                  <a:srgbClr val="5C6F6A"/>
                </a:solidFill>
                <a:latin typeface="Avenir Next"/>
              </a:rPr>
              <a:t>Start where it makes sense. Each tier unlocks — and pays for — the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2468880"/>
            <a:ext cx="3383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7889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 spc="300">
                <a:solidFill>
                  <a:srgbClr val="C6A15B"/>
                </a:solidFill>
                <a:latin typeface="Avenir Next"/>
              </a:rPr>
              <a:t>LAUNCH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1546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E4A43"/>
                </a:solidFill>
                <a:latin typeface="Didot"/>
              </a:rPr>
              <a:t>The Front Door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703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1">
                <a:solidFill>
                  <a:srgbClr val="5C6F6A"/>
                </a:solidFill>
                <a:latin typeface="Avenir Next"/>
              </a:rPr>
              <a:t>Funnel + lead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2062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2A26"/>
                </a:solidFill>
                <a:latin typeface="Avenir Next"/>
              </a:rPr>
              <a:t>✦  Luxury 1-page funnel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6451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2A26"/>
                </a:solidFill>
                <a:latin typeface="Avenir Next"/>
              </a:rPr>
              <a:t>✦  Name / email / phone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08406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2A26"/>
                </a:solidFill>
                <a:latin typeface="Avenir Next"/>
              </a:rPr>
              <a:t>✦  Leads to your inbox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522975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2A26"/>
                </a:solidFill>
                <a:latin typeface="Avenir Next"/>
              </a:rPr>
              <a:t>✦  Mobile-optimized &amp; live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468880"/>
            <a:ext cx="3383280" cy="3840480"/>
          </a:xfrm>
          <a:prstGeom prst="rect">
            <a:avLst/>
          </a:prstGeom>
          <a:solidFill>
            <a:srgbClr val="0E4A43"/>
          </a:solidFill>
          <a:ln w="1270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7889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 spc="300">
                <a:solidFill>
                  <a:srgbClr val="C6A15B"/>
                </a:solidFill>
                <a:latin typeface="Avenir Next"/>
              </a:rPr>
              <a:t>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1546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FFFFFF"/>
                </a:solidFill>
                <a:latin typeface="Didot"/>
              </a:rPr>
              <a:t>The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3703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1">
                <a:solidFill>
                  <a:srgbClr val="D9BC86"/>
                </a:solidFill>
                <a:latin typeface="Avenir Next"/>
              </a:rPr>
              <a:t>Funnel + email/SMS + 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2062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Avenir Next"/>
              </a:rPr>
              <a:t>✦  Everything in Launch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6451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Avenir Next"/>
              </a:rPr>
              <a:t>✦  Email &amp; SMS nurture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508406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Avenir Next"/>
              </a:rPr>
              <a:t>✦  Meta + Google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5522975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FFFFFF"/>
                </a:solidFill>
                <a:latin typeface="Avenir Next"/>
              </a:rPr>
              <a:t>✦  Monthly optimization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40680" y="2267712"/>
            <a:ext cx="1737360" cy="40233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23317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50" b="1" i="0" spc="150">
                <a:solidFill>
                  <a:srgbClr val="0A332E"/>
                </a:solidFill>
                <a:latin typeface="Avenir Next"/>
              </a:rPr>
              <a:t>MOST POPULAR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2468880"/>
            <a:ext cx="3383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27889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 i="0" spc="300">
                <a:solidFill>
                  <a:srgbClr val="C6A15B"/>
                </a:solidFill>
                <a:latin typeface="Avenir Next"/>
              </a:rPr>
              <a:t>ELITE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3154680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 i="0">
                <a:solidFill>
                  <a:srgbClr val="0E4A43"/>
                </a:solidFill>
                <a:latin typeface="Didot"/>
              </a:rPr>
              <a:t>Full Autopilot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7033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1">
                <a:solidFill>
                  <a:srgbClr val="5C6F6A"/>
                </a:solidFill>
                <a:latin typeface="Avenir Next"/>
              </a:rPr>
              <a:t>Everything + AI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420624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2A26"/>
                </a:solidFill>
                <a:latin typeface="Avenir Next"/>
              </a:rPr>
              <a:t>✦  Everything in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4645152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2A26"/>
                </a:solidFill>
                <a:latin typeface="Avenir Next"/>
              </a:rPr>
              <a:t>✦  24/7 AI concierge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5084064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2A26"/>
                </a:solidFill>
                <a:latin typeface="Avenir Next"/>
              </a:rPr>
              <a:t>✦  End-to-end automation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522975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122A26"/>
                </a:solidFill>
                <a:latin typeface="Avenir Next"/>
              </a:rPr>
              <a:t>✦  Dedicated growth partner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1">
                <a:solidFill>
                  <a:srgbClr val="5C6F6A"/>
                </a:solidFill>
                <a:latin typeface="Avenir Next"/>
              </a:rPr>
              <a:t>Exact pricing scoped to ELEV8TIDE's goals — final numbers in the proposal.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f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25" y="0"/>
            <a:ext cx="1219974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332E">
                  <a:alpha val="55000"/>
                </a:srgbClr>
              </a:gs>
              <a:gs pos="100000">
                <a:srgbClr val="0A332E">
                  <a:alpha val="8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32E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spc="300">
                <a:solidFill>
                  <a:srgbClr val="FFFFFF"/>
                </a:solidFill>
                <a:latin typeface="Didot"/>
              </a:rPr>
              <a:t>ELEV</a:t>
            </a:r>
            <a:r>
              <a:rPr sz="2000" b="1" spc="300">
                <a:solidFill>
                  <a:srgbClr val="C6A15B"/>
                </a:solidFill>
                <a:latin typeface="Didot"/>
              </a:rPr>
              <a:t>8</a:t>
            </a:r>
            <a:r>
              <a:rPr sz="2000" b="1" spc="300">
                <a:solidFill>
                  <a:srgbClr val="FFFFFF"/>
                </a:solidFill>
                <a:latin typeface="Didot"/>
              </a:rPr>
              <a:t>TIDE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 i="0" spc="380">
                <a:solidFill>
                  <a:srgbClr val="C6A15B"/>
                </a:solidFill>
                <a:latin typeface="Avenir Next"/>
              </a:rPr>
              <a:t>YOUR NEXT CHAPTER STARTS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000" b="0" i="0">
                <a:solidFill>
                  <a:srgbClr val="FFFFFF"/>
                </a:solidFill>
                <a:latin typeface="Didot"/>
              </a:rPr>
              <a:t>Elevate. Restore.</a:t>
            </a:r>
          </a:p>
          <a:p>
            <a:pPr algn="l">
              <a:lnSpc>
                <a:spcPct val="98000"/>
              </a:lnSpc>
            </a:pPr>
            <a:r>
              <a:rPr sz="6000" b="0" i="0">
                <a:solidFill>
                  <a:srgbClr val="FFFFFF"/>
                </a:solidFill>
                <a:latin typeface="Didot"/>
              </a:rPr>
              <a:t>Optimize.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1208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1">
                <a:solidFill>
                  <a:srgbClr val="D9BC86"/>
                </a:solidFill>
                <a:latin typeface="Avenir Next"/>
              </a:rPr>
              <a:t>Let's start with the front door — then scale from there.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822960" cy="304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